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8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25603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11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 MANAGEMENT SYSTEMS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Information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11480" y="2542032"/>
            <a:ext cx="329184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33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Information Systems  |  Database Management Systems Course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703320"/>
            <a:ext cx="3840480" cy="1097280"/>
          </a:xfrm>
          <a:prstGeom prst="rect">
            <a:avLst/>
          </a:prstGeom>
          <a:solidFill>
            <a:srgbClr val="13274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767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005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Tronnie Amwesiga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334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06 / 05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Laboratory Information System?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841248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64008" cy="8412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161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 Information System is a database-driven platform that manages the complete workflow of a clinical or diagnostic laboratory — from physician test requests through sample collection, analysis, result validation, and final report delivery.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1993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76272"/>
            <a:ext cx="1993392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762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1762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national ID, blood group, contact information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2176272"/>
            <a:ext cx="1993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176272"/>
            <a:ext cx="1993392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1762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21762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6334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requests, accession numbers, clinical notes, priority 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176272"/>
            <a:ext cx="1993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176272"/>
            <a:ext cx="1993392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1762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1762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6334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tracking from collection through processing and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176272"/>
            <a:ext cx="1993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2176272"/>
            <a:ext cx="1993392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1762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21762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Reports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6334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entry, validation, auto-flagging, formatted report delivery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D6E4F0"/>
          </a:solidFill>
          <a:ln w="508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418795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efficiency and accuracy in laboratory operations — automating order management, specimen tracking, result validation, and report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with manual, file-based laboratory systems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12064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5C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7548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261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51790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 are vulnerable to physical damage, misfiling, and permanent loss during emergencies.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512064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5C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47548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2194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45059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turnaround time is 4–6 hours vs. 1–2 hours with an automated LIS — delaying clinical decisions.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54096"/>
            <a:ext cx="512064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5C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54096"/>
            <a:ext cx="47548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54096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3127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Errors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3832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transcription of results introduces clerical errors, with estimated error rates of 60–80% higher than digital systems.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512064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05C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86784"/>
            <a:ext cx="475488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86784"/>
            <a:ext cx="475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Tracking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43159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track sample status, pending results, or abnormal findings in real time.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188720"/>
            <a:ext cx="3154680" cy="36941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6072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1719072"/>
            <a:ext cx="21945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8288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computerised LIS database system that automates all laboratory workflows: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25786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Electronic test ordering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2926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Barcoded specimen tracking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2735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result entry &amp; flagging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36210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Digital report generation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39684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 control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4315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Manager dashboards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LIS database system is designed to achieve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75488" cy="1170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12801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Patient Information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157276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securely store complete patient demographics — name, date of birth, gender, national ID, blood group, contact and address details.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18872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0E6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188720"/>
            <a:ext cx="475488" cy="1170432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188720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94376" y="12801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Samples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94376" y="157276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unique barcoded accession numbers to each specimen and track status from collection through receipt, processing, and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147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87168"/>
            <a:ext cx="475488" cy="1170432"/>
          </a:xfrm>
          <a:prstGeom prst="rect">
            <a:avLst/>
          </a:prstGeom>
          <a:solidFill>
            <a:srgbClr val="147A6E"/>
          </a:solidFill>
          <a:ln w="12700">
            <a:solidFill>
              <a:srgbClr val="14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8716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" y="2578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Retrieve Results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2871216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laboratory scientists to enter test results, auto-flag abnormal values against reference ranges, and retrieve results instantly by patient, order, or date.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248716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0A5C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487168"/>
            <a:ext cx="475488" cy="1170432"/>
          </a:xfrm>
          <a:prstGeom prst="rect">
            <a:avLst/>
          </a:prstGeom>
          <a:solidFill>
            <a:srgbClr val="0A5C52"/>
          </a:solidFill>
          <a:ln w="12700">
            <a:solidFill>
              <a:srgbClr val="0A5C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248716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94376" y="2578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Accuracy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94376" y="2871216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transcription errors through digital data entry, automated validation, and strict role-based access — reducing clerical errors by an estimated 60–80%.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8561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1327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85616"/>
            <a:ext cx="475488" cy="1170432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85616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6968" y="38770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6968" y="4169664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finalized results into formatted clinical reports delivered by print, email, or portal — replacing phone-based result communication.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27448" y="378561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3785616"/>
            <a:ext cx="475488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3785616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94376" y="38770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 Making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94376" y="4169664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managers with workload statistics, TAT analysis, and abnormal result dashboards to support quality management and ISO 15189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laboratory workflow managed by the LIS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54480" cy="2377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29844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or register patient; capture demographics &amp; national 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47088" y="2377440"/>
            <a:ext cx="164592" cy="54864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234440"/>
            <a:ext cx="1554480" cy="2377440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29844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18745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487168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selects test(s), sets priority, adds clinical notes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02736" y="2377440"/>
            <a:ext cx="164592" cy="54864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1234440"/>
            <a:ext cx="1554480" cy="2377440"/>
          </a:xfrm>
          <a:prstGeom prst="rect">
            <a:avLst/>
          </a:prstGeom>
          <a:solidFill>
            <a:srgbClr val="147A6E"/>
          </a:solidFill>
          <a:ln w="12700">
            <a:solidFill>
              <a:srgbClr val="147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34256" y="129844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58768" y="18745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58768" y="2487168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collects specimen; LIS generates barcoded accession number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58384" y="2377440"/>
            <a:ext cx="164592" cy="54864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41264" y="1234440"/>
            <a:ext cx="1554480" cy="2377440"/>
          </a:xfrm>
          <a:prstGeom prst="rect">
            <a:avLst/>
          </a:prstGeom>
          <a:solidFill>
            <a:srgbClr val="0A5C52"/>
          </a:solidFill>
          <a:ln w="12700">
            <a:solidFill>
              <a:srgbClr val="0A5C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129844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14416" y="18745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14416" y="2487168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received, condition verified, assigned to department queue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14032" y="2377440"/>
            <a:ext cx="164592" cy="54864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2" y="1234440"/>
            <a:ext cx="1554480" cy="237744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45552" y="129844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70064" y="18745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70064" y="2487168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enters result; system auto-flags vs reference range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767328"/>
            <a:ext cx="4187952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877056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33272" y="38404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Validation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3272" y="41513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reviews and approves flagged/abnormal results; or sends for repeat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3767328"/>
            <a:ext cx="4187952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0" y="3877056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05272" y="38404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05272" y="41513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compiles all results for an order; formats report; delivers by print, email, or portal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database tables — core entities of the LIS relational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132588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1155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" y="149961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(PK)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37360" y="11887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patient_name, DOB, gender, phone, address, national_id, blood_group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7448" y="1115568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0E6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115568"/>
            <a:ext cx="1325880" cy="713232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1155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64024" y="149961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doctor_id (PK)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44768" y="11887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doctor_name, phone, department_id (FK)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147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20240"/>
            <a:ext cx="1325880" cy="713232"/>
          </a:xfrm>
          <a:prstGeom prst="rect">
            <a:avLst/>
          </a:prstGeom>
          <a:solidFill>
            <a:srgbClr val="147A6E"/>
          </a:solidFill>
          <a:ln w="12700">
            <a:solidFill>
              <a:srgbClr val="14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9202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" y="23042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department_id (PK)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199339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department_name, description, head_tech_id (FK)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27448" y="1920240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0A5C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1920240"/>
            <a:ext cx="1325880" cy="713232"/>
          </a:xfrm>
          <a:prstGeom prst="rect">
            <a:avLst/>
          </a:prstGeom>
          <a:solidFill>
            <a:srgbClr val="0A5C52"/>
          </a:solidFill>
          <a:ln w="12700">
            <a:solidFill>
              <a:srgbClr val="0A5C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19202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LAB_TECH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64024" y="23042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tech_id (PK)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44768" y="199339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tech_name, role (Scientist/Technician/Manager), department_id (FK)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724912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13274F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724912"/>
            <a:ext cx="1325880" cy="713232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" y="27249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test_id (PK)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37360" y="27980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test_name, sample_type, cost (UGX), department_id (FK)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27448" y="2724912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2724912"/>
            <a:ext cx="13258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27249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TEST_ORDER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64024" y="310896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44768" y="27980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patient_id, doctor_id, order_date, status, clinical_notes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529584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E8A838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529584"/>
            <a:ext cx="1325880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352958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ORDER_TEST_ITEM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56616" y="39136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(order_id, test_id) PK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37360" y="3602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 — resolves M:N between TEST_ORDER and TEST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27448" y="3529584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B07D0E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27448" y="3529584"/>
            <a:ext cx="1325880" cy="713232"/>
          </a:xfrm>
          <a:prstGeom prst="rect">
            <a:avLst/>
          </a:prstGeom>
          <a:solidFill>
            <a:srgbClr val="B07D0E"/>
          </a:solidFill>
          <a:ln w="12700">
            <a:solidFill>
              <a:srgbClr val="B07D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64024" y="352958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64024" y="391363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sample_id (PK)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44768" y="3602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accession_number, order_id, sample_type, collection_datetime, collected_by, condition, received_datetime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334256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4334256"/>
            <a:ext cx="132588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" y="43342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6616" y="471830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result_id (PK)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37360" y="44074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sample_id, test_id, result_value, flag (Normal/High/Low/Critical), result_datetime, validated_by, comments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27448" y="4334256"/>
            <a:ext cx="4206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6C3483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27448" y="4334256"/>
            <a:ext cx="1325880" cy="7132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64024" y="43342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64024" y="471830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report_id (PK)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144768" y="44074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generated_by, generated_datetime, delivery_method, status (Draft/Final/Amended)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Multiplicities and relationship types across all 14 relationships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011680" cy="347472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115568"/>
            <a:ext cx="1280160" cy="347472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15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115568"/>
            <a:ext cx="2011680" cy="347472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115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115568"/>
            <a:ext cx="1188720" cy="347472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115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115568"/>
            <a:ext cx="2331720" cy="347472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1155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481328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813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1481328"/>
            <a:ext cx="12801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4813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11880" y="1481328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4813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TEST_ORDER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23560" y="1481328"/>
            <a:ext cx="1188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4813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481328"/>
            <a:ext cx="2331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4813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→ many orders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1741932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7419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31720" y="1741932"/>
            <a:ext cx="128016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74193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11880" y="1741932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17419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TEST_ORDER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23560" y="1741932"/>
            <a:ext cx="1188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174193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1741932"/>
            <a:ext cx="2331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74193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 → many orders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002536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0025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TEST_ORDER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31720" y="2002536"/>
            <a:ext cx="12801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0025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11880" y="2002536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0025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23560" y="2002536"/>
            <a:ext cx="1188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200253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12280" y="2002536"/>
            <a:ext cx="2331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200253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→ many samples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2263140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2631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TEST_ORDER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331720" y="2263140"/>
            <a:ext cx="128016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22631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11880" y="2263140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22631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23560" y="2263140"/>
            <a:ext cx="1188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22631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12280" y="2263140"/>
            <a:ext cx="2331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226314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ORDER_TEST_ITEM bridge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2523744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25237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331720" y="2523744"/>
            <a:ext cx="12801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77440" y="252374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11880" y="2523744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0" y="25237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23560" y="2523744"/>
            <a:ext cx="1188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252374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12280" y="2523744"/>
            <a:ext cx="2331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0" y="252374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→ many results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" y="2784348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27843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331720" y="2784348"/>
            <a:ext cx="128016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0" y="278434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611880" y="2784348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0" y="27843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23560" y="2784348"/>
            <a:ext cx="1188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27843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812280" y="2784348"/>
            <a:ext cx="2331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0" y="278434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→ many results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3044952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304495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LAB_TECH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331720" y="3044952"/>
            <a:ext cx="12801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77440" y="30449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611880" y="3044952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0" y="304495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623560" y="3044952"/>
            <a:ext cx="1188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0" y="30449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812280" y="3044952"/>
            <a:ext cx="2331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58000" y="304495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 → many samples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0040" y="3305556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" y="33055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LAB_TECH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331720" y="3305556"/>
            <a:ext cx="128016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77440" y="33055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611880" y="3305556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57600" y="33055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623560" y="3305556"/>
            <a:ext cx="1188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69280" y="330555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812280" y="3305556"/>
            <a:ext cx="2331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58000" y="330555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 → many results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20040" y="3566160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5760" y="35661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331720" y="3566160"/>
            <a:ext cx="12801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377440" y="35661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611880" y="3566160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57600" y="35661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623560" y="3566160"/>
            <a:ext cx="1188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69280" y="35661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812280" y="3566160"/>
            <a:ext cx="2331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58000" y="356616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dept → many tests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20040" y="3826764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5760" y="38267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331720" y="3826764"/>
            <a:ext cx="128016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377440" y="38267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611880" y="3826764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57600" y="38267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LAB_TECH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623560" y="3826764"/>
            <a:ext cx="1188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382676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6812280" y="3826764"/>
            <a:ext cx="2331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8000" y="382676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dept → many staff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20040" y="4087368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65760" y="40873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TEST_ORDER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331720" y="4087368"/>
            <a:ext cx="12801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377440" y="40873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3611880" y="4087368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657600" y="40873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5623560" y="4087368"/>
            <a:ext cx="1188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669280" y="40873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1:1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6812280" y="4087368"/>
            <a:ext cx="2331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858000" y="408736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→ one report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320040" y="4347972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65760" y="43479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LAB_TECH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2331720" y="4347972"/>
            <a:ext cx="128016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377440" y="434797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611880" y="4347972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0" y="43479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5623560" y="4347972"/>
            <a:ext cx="1188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69280" y="43479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1:N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812280" y="4347972"/>
            <a:ext cx="2331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858000" y="434797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 → many reports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320040" y="4608576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65760" y="46085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PATIENT+DOCTOR+TEST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331720" y="4608576"/>
            <a:ext cx="12801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377440" y="460857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constitutes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611880" y="4608576"/>
            <a:ext cx="2011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657600" y="46085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TEST_ORDER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5623560" y="4608576"/>
            <a:ext cx="1188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669280" y="460857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6812280" y="4608576"/>
            <a:ext cx="23317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858000" y="460857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Many:Many:Many via TEST_ORDER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320040" y="4869180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65760" y="48691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2331720" y="4869180"/>
            <a:ext cx="128016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377440" y="48691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 (head)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3611880" y="4869180"/>
            <a:ext cx="201168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657600" y="48691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5623560" y="4869180"/>
            <a:ext cx="1188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669280" y="48691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Unary/Recursive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6812280" y="4869180"/>
            <a:ext cx="2331720" cy="246888"/>
          </a:xfrm>
          <a:prstGeom prst="rect">
            <a:avLst/>
          </a:prstGeom>
          <a:solidFill>
            <a:srgbClr val="D6E4F0"/>
          </a:solidFill>
          <a:ln w="3810">
            <a:solidFill>
              <a:srgbClr val="C8D8E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858000" y="486918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1:Many (one head, many staff)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Information System — Entity Relationship Diagram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Demonstration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MySQL implementation — database tables and sample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2788920"/>
          </a:xfrm>
          <a:prstGeom prst="rect">
            <a:avLst/>
          </a:prstGeom>
          <a:solidFill>
            <a:srgbClr val="0A1628"/>
          </a:solidFill>
          <a:ln w="635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TABLES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328" y="1417320"/>
            <a:ext cx="2706624" cy="2487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46120" y="1143000"/>
            <a:ext cx="5577840" cy="2788920"/>
          </a:xfrm>
          <a:prstGeom prst="rect">
            <a:avLst/>
          </a:prstGeom>
          <a:solidFill>
            <a:srgbClr val="0A1628"/>
          </a:solidFill>
          <a:ln w="635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1143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64408" y="1417320"/>
            <a:ext cx="5541264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4096512"/>
            <a:ext cx="27889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" y="4096512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1696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 Created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1480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doctor, lab_tech, order_test_item, patient, report, result, sample, test, test_order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64408" y="4096512"/>
            <a:ext cx="27889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64408" y="4096512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55848" y="41696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Loaded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55848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Ugandan patient names (James Mugisha, Sarah Aine, David Kato) with realistic demographics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08776" y="4096512"/>
            <a:ext cx="27889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08776" y="4096512"/>
            <a:ext cx="278892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00216" y="41696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Running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300216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patient; SELECT orders WHERE status = 'In Progress' — all returning correct results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13274F"/>
          </a:solidFill>
          <a:ln w="12700">
            <a:solidFill>
              <a:srgbClr val="132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32004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6629400" cy="768096"/>
          </a:xfrm>
          <a:prstGeom prst="rect">
            <a:avLst/>
          </a:prstGeom>
          <a:solidFill>
            <a:srgbClr val="13274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438912" cy="7680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52144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Lab Efficiency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0817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average turnaround time from 4–6 hours to 1–2 hours through automated order management and specimen tracking.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6629400" cy="768096"/>
          </a:xfrm>
          <a:prstGeom prst="rect">
            <a:avLst/>
          </a:prstGeom>
          <a:solidFill>
            <a:srgbClr val="13274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56816"/>
            <a:ext cx="438912" cy="7680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56816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029968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Errors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8600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transcription, cutting clerical result errors by an estimated 60–80% and improving patient safety.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6629400" cy="768096"/>
          </a:xfrm>
          <a:prstGeom prst="rect">
            <a:avLst/>
          </a:prstGeom>
          <a:solidFill>
            <a:srgbClr val="13274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34640"/>
            <a:ext cx="438912" cy="7680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3464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907792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16382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entities with 14 clearly defined relationships, implemented in MySQL with proper PKs, FKs, and bridge tables.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712464"/>
            <a:ext cx="6629400" cy="768096"/>
          </a:xfrm>
          <a:prstGeom prst="rect">
            <a:avLst/>
          </a:prstGeom>
          <a:solidFill>
            <a:srgbClr val="13274F"/>
          </a:solidFill>
          <a:ln w="5080">
            <a:solidFill>
              <a:srgbClr val="0E7C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712464"/>
            <a:ext cx="438912" cy="7680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12464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785616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and Manage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04164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Scientists, Technicians, Managers, and Admins with intuitive workflow screens per user group.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590288"/>
            <a:ext cx="6629400" cy="384048"/>
          </a:xfrm>
          <a:prstGeom prst="rect">
            <a:avLst/>
          </a:prstGeom>
          <a:solidFill>
            <a:srgbClr val="0E7C7B">
              <a:alpha val="20000"/>
            </a:srgbClr>
          </a:solidFill>
          <a:ln w="508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Improvements: 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for online result access  |  AI-based critical-value alerting  |  Multi-site networked deployment  |  Billing module integration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Microsoft Office PowerPoint</Application>
  <PresentationFormat>On-screen Show (16:9)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Information System — Database Project</dc:title>
  <dc:subject>PptxGenJS Presentation</dc:subject>
  <dc:creator>PptxGenJS</dc:creator>
  <cp:lastModifiedBy>TRONNIE BILLZ</cp:lastModifiedBy>
  <cp:revision>1</cp:revision>
  <dcterms:created xsi:type="dcterms:W3CDTF">2026-05-06T21:59:22Z</dcterms:created>
  <dcterms:modified xsi:type="dcterms:W3CDTF">2026-05-06T22:05:11Z</dcterms:modified>
</cp:coreProperties>
</file>